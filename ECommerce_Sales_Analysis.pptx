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Sales vs Profit by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(INR)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Fashion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8612558</c:v>
                </c:pt>
                <c:pt idx="1">
                  <c:v>3295594</c:v>
                </c:pt>
                <c:pt idx="2">
                  <c:v>2337412</c:v>
                </c:pt>
                <c:pt idx="3">
                  <c:v>1297173</c:v>
                </c:pt>
                <c:pt idx="4">
                  <c:v>781468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 (INR)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Sports</c:v>
                </c:pt>
                <c:pt idx="3">
                  <c:v>Fashion</c:v>
                </c:pt>
                <c:pt idx="4">
                  <c:v>Beauty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1870335</c:v>
                </c:pt>
                <c:pt idx="1">
                  <c:v>733744</c:v>
                </c:pt>
                <c:pt idx="2">
                  <c:v>513685</c:v>
                </c:pt>
                <c:pt idx="3">
                  <c:v>300973</c:v>
                </c:pt>
                <c:pt idx="4">
                  <c:v>184635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Top 8 Products — Total Sales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(INR)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Bluetooth Speaker</c:v>
                </c:pt>
                <c:pt idx="1">
                  <c:v>Power Bank</c:v>
                </c:pt>
                <c:pt idx="2">
                  <c:v>Smartphone</c:v>
                </c:pt>
                <c:pt idx="3">
                  <c:v>Wireless Earbuds</c:v>
                </c:pt>
                <c:pt idx="4">
                  <c:v>Smart Watch</c:v>
                </c:pt>
                <c:pt idx="5">
                  <c:v>Mixer Grinder</c:v>
                </c:pt>
                <c:pt idx="6">
                  <c:v>Water Bottle</c:v>
                </c:pt>
                <c:pt idx="7">
                  <c:v>Bedsheet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2155203</c:v>
                </c:pt>
                <c:pt idx="1">
                  <c:v>1735859</c:v>
                </c:pt>
                <c:pt idx="2">
                  <c:v>1607840</c:v>
                </c:pt>
                <c:pt idx="3">
                  <c:v>1595502</c:v>
                </c:pt>
                <c:pt idx="4">
                  <c:v>1518154</c:v>
                </c:pt>
                <c:pt idx="5">
                  <c:v>847834</c:v>
                </c:pt>
                <c:pt idx="6">
                  <c:v>688453</c:v>
                </c:pt>
                <c:pt idx="7">
                  <c:v>625471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Sales &amp; Profit by 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(INR)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Bangalore</c:v>
                </c:pt>
                <c:pt idx="1">
                  <c:v>Mumbai</c:v>
                </c:pt>
                <c:pt idx="2">
                  <c:v>Jaipur</c:v>
                </c:pt>
                <c:pt idx="3">
                  <c:v>Pune</c:v>
                </c:pt>
                <c:pt idx="4">
                  <c:v>Hyderabad</c:v>
                </c:pt>
                <c:pt idx="5">
                  <c:v>Delhi</c:v>
                </c:pt>
                <c:pt idx="6">
                  <c:v>Chennai</c:v>
                </c:pt>
                <c:pt idx="7">
                  <c:v>Kolkata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2241955</c:v>
                </c:pt>
                <c:pt idx="1">
                  <c:v>2205053</c:v>
                </c:pt>
                <c:pt idx="2">
                  <c:v>2167782</c:v>
                </c:pt>
                <c:pt idx="3">
                  <c:v>2152068</c:v>
                </c:pt>
                <c:pt idx="4">
                  <c:v>2104452</c:v>
                </c:pt>
                <c:pt idx="5">
                  <c:v>1913366</c:v>
                </c:pt>
                <c:pt idx="6">
                  <c:v>1823225</c:v>
                </c:pt>
                <c:pt idx="7">
                  <c:v>1716303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(INR)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Bangalore</c:v>
                </c:pt>
                <c:pt idx="1">
                  <c:v>Mumbai</c:v>
                </c:pt>
                <c:pt idx="2">
                  <c:v>Jaipur</c:v>
                </c:pt>
                <c:pt idx="3">
                  <c:v>Pune</c:v>
                </c:pt>
                <c:pt idx="4">
                  <c:v>Hyderabad</c:v>
                </c:pt>
                <c:pt idx="5">
                  <c:v>Delhi</c:v>
                </c:pt>
                <c:pt idx="6">
                  <c:v>Chennai</c:v>
                </c:pt>
                <c:pt idx="7">
                  <c:v>Kolkata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508565</c:v>
                </c:pt>
                <c:pt idx="1">
                  <c:v>494675</c:v>
                </c:pt>
                <c:pt idx="2">
                  <c:v>403929</c:v>
                </c:pt>
                <c:pt idx="3">
                  <c:v>446754</c:v>
                </c:pt>
                <c:pt idx="4">
                  <c:v>510587</c:v>
                </c:pt>
                <c:pt idx="5">
                  <c:v>478495</c:v>
                </c:pt>
                <c:pt idx="6">
                  <c:v>378795</c:v>
                </c:pt>
                <c:pt idx="7">
                  <c:v>381573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Sales &amp; AOV by Customer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Returning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7084123</c:v>
                </c:pt>
                <c:pt idx="1">
                  <c:v>6921497</c:v>
                </c:pt>
                <c:pt idx="2">
                  <c:v>2318584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Order 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Returning</c:v>
                </c:pt>
                <c:pt idx="2">
                  <c:v>Premium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15955</c:v>
                </c:pt>
                <c:pt idx="1">
                  <c:v>16638</c:v>
                </c:pt>
                <c:pt idx="2">
                  <c:v>16561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Monthly Sales &amp; Profit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1222821</c:v>
                </c:pt>
                <c:pt idx="1">
                  <c:v>1678969</c:v>
                </c:pt>
                <c:pt idx="2">
                  <c:v>1757835</c:v>
                </c:pt>
                <c:pt idx="3">
                  <c:v>1147391</c:v>
                </c:pt>
                <c:pt idx="4">
                  <c:v>1624315</c:v>
                </c:pt>
                <c:pt idx="5">
                  <c:v>1398855</c:v>
                </c:pt>
                <c:pt idx="6">
                  <c:v>1252660</c:v>
                </c:pt>
                <c:pt idx="7">
                  <c:v>1360433</c:v>
                </c:pt>
                <c:pt idx="8">
                  <c:v>1251362</c:v>
                </c:pt>
                <c:pt idx="9">
                  <c:v>1069288</c:v>
                </c:pt>
                <c:pt idx="10">
                  <c:v>1585872</c:v>
                </c:pt>
                <c:pt idx="11">
                  <c:v>974404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279416</c:v>
                </c:pt>
                <c:pt idx="1">
                  <c:v>347748</c:v>
                </c:pt>
                <c:pt idx="2">
                  <c:v>384043</c:v>
                </c:pt>
                <c:pt idx="3">
                  <c:v>249625</c:v>
                </c:pt>
                <c:pt idx="4">
                  <c:v>384996</c:v>
                </c:pt>
                <c:pt idx="5">
                  <c:v>276087</c:v>
                </c:pt>
                <c:pt idx="6">
                  <c:v>326968</c:v>
                </c:pt>
                <c:pt idx="7">
                  <c:v>262372</c:v>
                </c:pt>
                <c:pt idx="8">
                  <c:v>263214</c:v>
                </c:pt>
                <c:pt idx="9">
                  <c:v>231810</c:v>
                </c:pt>
                <c:pt idx="10">
                  <c:v>373083</c:v>
                </c:pt>
                <c:pt idx="11">
                  <c:v>224009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/>
              <a:t>Payment Method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Credit Card</c:v>
                </c:pt>
                <c:pt idx="2">
                  <c:v>Cash on Delivery</c:v>
                </c:pt>
                <c:pt idx="3">
                  <c:v>Debit Card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355</c:v>
                </c:pt>
                <c:pt idx="1">
                  <c:v>225</c:v>
                </c:pt>
                <c:pt idx="2">
                  <c:v>153</c:v>
                </c:pt>
                <c:pt idx="3">
                  <c:v>166</c:v>
                </c:pt>
                <c:pt idx="4">
                  <c:v>101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E-Commerce Sales &amp; 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FDBFE"/>
                </a:solidFill>
              </a:rPr>
              <a:t>Comprehensive Data Analytics Dashboard | Python + Streamlit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1,000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</a:rPr>
              <a:t>Dataset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5768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291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3977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</a:rPr>
              <a:t>Unique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25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336" y="3977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</a:rPr>
              <a:t>Product SKUs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3977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</a:rPr>
              <a:t>Product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 Cities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397763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</a:rPr>
              <a:t>Indian Markets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Data Analytics Project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Topics covered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01  Project Overview &amp;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02  Dataset Description &amp; Data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649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03  Data Cleaning &amp; Feature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370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04  Key Performance Indicators (KPIs)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3766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05  Sales by Category &amp; 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06  Geographic Performance (City Analysis)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359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07  Customer Segmentation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649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08  Time-Based Trends (Monthly &amp; Quarterly)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3708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09  Payment Methods &amp; Discount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21208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766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10  Business Insights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Objectives and scope of this analytics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39496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Project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Collect and load the CSV dataset (1 000 e-commerce orders)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85416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Inspect for missing, duplicate, or incorrect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79192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877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Clean and prepare the dataset for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72968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8152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Calculate Sales = Quantity x Unit Price - Discount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66744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7530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Calculate total sales and profit across all 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0520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Group and summarise data using totals, counts, and averages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654296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628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Analyse customers, products, categories, and city locations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48072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566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Create interactive charts to compare results (Plotly / Streamlit)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641848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5040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Identify important business problems and growth 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135624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4418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Derive actionable business decisions from data findings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51560"/>
            <a:ext cx="5943600" cy="5577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600200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6367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Python 3.11+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9293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Core programming language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404872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4414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pandas / NumPy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7340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Data manipulation &amp; computation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209544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5387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Interactive web 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014216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050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Plotly Express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343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Charts &amp; visualisations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818888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85546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python-pptx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1480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Automated presentation generation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623560"/>
            <a:ext cx="5486400" cy="658368"/>
          </a:xfrm>
          <a:prstGeom prst="rect">
            <a:avLst/>
          </a:prstGeom>
          <a:solidFill>
            <a:srgbClr val="2D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6601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Dataset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9527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1 000 orders, 14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Description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Structure, completeness, and integrity of the source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Dataset Columns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6492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Order_ID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Unique order identifier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Order_Date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Date order was placed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Customer_ID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Unique customer identifier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Customer_Type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New / Returning /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Product name (25 SKUs)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Product category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Delivery city (8 cities)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Units ordered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Unit_Price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Price per unit (INR)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Discount rate (0.0 –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Payment_Method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Payment mode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Original sales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Profit amount (INR)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Order_Status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Delivered/Cancelled/Returned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005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Data Quality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371600"/>
            <a:ext cx="109728" cy="5760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417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1,000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0574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057400"/>
            <a:ext cx="109728" cy="5760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Total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7432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2743200"/>
            <a:ext cx="109728" cy="576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Duplicate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4290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3429000"/>
            <a:ext cx="109728" cy="576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Missing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474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4114800"/>
            <a:ext cx="109728" cy="576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Neg. Quantities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4160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8006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4800600"/>
            <a:ext cx="109728" cy="576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Neg. Unit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486400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5486400"/>
            <a:ext cx="109728" cy="5760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Invalid Discounts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5532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293B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Steps taken to prepare the dataset for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Cleaning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0817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Remove Duplicate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Exact duplicate records identified and dropped using drop_duplicates().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21992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21992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048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585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Handle 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5117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Rows missing critical fields (Order_ID, Product, etc.) removed with dropna().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72384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72384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5526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089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Parse Date 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40156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Order_Date converted to datetime64 for time-series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22776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922776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10565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5935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Strip Whitespace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2519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All string columns trimmed to remove leading/trailing whitespace.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73168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773168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9560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8097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Clip Discount 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023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Discount clipped to [0, 1] range; invalid values corrected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623560"/>
            <a:ext cx="62179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623560"/>
            <a:ext cx="38404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8064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6013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Remove Non-Positive 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95274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Rows with Quantity &lt;= 0 or Unit_Price &lt;= 0 excluded from analysis.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Engineered Features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85800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Formula / 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Calculated_Sales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Quantity x Unit_Price x (1 - Discount)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Profit_Margin_%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(Profit / Calculated_Sales) x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Calendar year extracted from Order_Date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Month / Month_Name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Month number and abbreviated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Q1, Q2, Q3, Q4 based on Order_Date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Revenue_Bucket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Low / Medium / High (33rd/66th percentile)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6858000" y="4389120"/>
            <a:ext cx="5029200" cy="1645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FDBFE"/>
                </a:solidFill>
              </a:rPr>
              <a:t>Key Formula (Step 4 Requirement)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Calculated_Sales 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166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Quantity x Unit_Price x (1 - Discount)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High-level business metrics across all 1,000 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Total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097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2112" y="109728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20700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291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Total 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97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09728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20700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Total Products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09728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09728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20700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Rs.16.32M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Total Sales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146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51460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62432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Rs.3.60M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172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Total Profit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25146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82112" y="251460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262432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22.07%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3172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Profit Margin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9904" y="25146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89904" y="2514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9904" y="262432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Rs.16,324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172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Avg Order Value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251460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7696" y="2514600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7696" y="262432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92.2%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3172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Delivery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319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931920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404164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5902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Cancelled Orders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2112" y="39319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82112" y="3931920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82112" y="404164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45902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Returned Orders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3931920"/>
            <a:ext cx="2743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3931920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4041648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</a:rPr>
              <a:t>922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5902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748B"/>
                </a:solidFill>
              </a:rPr>
              <a:t>Delivered 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Sales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Revenue, profit, and margin breakdown across 5 product categories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71323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Category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417320"/>
          <a:ext cx="4206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Margin%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Electronics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Rs.86.1L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Rs.18.7L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21.7%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Home &amp; Kitchen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Rs.33.0L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Rs.7.3L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Rs.23.4L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Rs.5.1L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Fashion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Rs.13.0L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Rs.3.0L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Beauty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Rs.7.8L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374903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4270248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1605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Electronics = 52% of total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709159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599431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Beauty has highest profit margin (23.6%)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5148072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03834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Fashion is the fastest-growing segment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58698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547725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H&amp;K shows strong avg order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602589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591616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Sports grows via premium equipment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Top Products by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Revenue, quantity, and profit margin for the best-performing SKUs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71323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Product Rankings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417320"/>
          <a:ext cx="4206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Qty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Margin%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Bluetooth Speaker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Rs.21.6L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26.6%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Power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Rs.17.4L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Smartphone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Rs.16.1L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Wireless Earbuds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Rs.16.0L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Smart Watch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Rs.15.2L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Mixer Grinder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Rs.8.5L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Water Bottle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Rs.6.9L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Bedsheet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Rs.6.3L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Geographic Performance — City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Sales, profit, and order volume across 8 Indian cities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71323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051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City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417320"/>
          <a:ext cx="4206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Margin%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Bangalore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Rs.22.4L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Rs.22.1L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Jaipur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Rs.21.7L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Rs.21.5L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Hyderabad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Rs.21.0L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24.3%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Rs.19.1L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Chennai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Rs.18.2L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133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Kolkata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Rs.17.2L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Customer Segmentation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Behaviour and revenue contribution by customer type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051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Customer Type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417320"/>
          <a:ext cx="4480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/>
                <a:gridCol w="896112"/>
                <a:gridCol w="896112"/>
                <a:gridCol w="896112"/>
                <a:gridCol w="896112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Customers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AOV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Margin%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Rs.70.8L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Rs.15,955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Returning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Rs.69.2L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Premium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Rs.23.2L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Rs.16,561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23.3%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Segment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087367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97763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New customers: largest order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53542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42569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Premium customers: highest avg order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98348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873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Returning customers: most consistent buyers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5431535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321807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All segments show &gt;20% profit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587959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576986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Target premium segment for upsell campaigns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Time-Based Sales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Monthly and quarterly sales performance throughout 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051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Top 6 Revenue Months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417320"/>
          <a:ext cx="4023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Rs.17.6L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Rs.16.8L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May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Rs.16.2L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Rs.15.9L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Rs.3.7L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Jun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Rs.14.0L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Rs.2.8L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Rs.13.6L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Rs.2.6L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3931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Quarterly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0" y="4297680"/>
          <a:ext cx="4023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Rs.46.6L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Rs.10.1L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Rs.41.7L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Rs.9.1L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Rs.38.6L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Rs.8.5L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Rs.36.3L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Rs.8.3L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Payment Methods &amp; Discount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Transaction behaviour and impact of discounting on profitability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51560"/>
          <a:ext cx="5029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0" y="1051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Discount Impact on Margins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77840" y="1417320"/>
          <a:ext cx="6400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Discount Band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Avg Margin%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No Discount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Rs.33.0L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29.6%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1–10%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Rs.71.7L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11–20%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403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Rs.58.6L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77840" y="3520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Payment Method Stats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77840" y="3886200"/>
          <a:ext cx="6400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Payment 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Share%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UPI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355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Rs.59.0L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35.5%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Credit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Rs.39.0L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Cash on Delivery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Rs.25.1L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15.3%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Debit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Rs.23.8L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Net Banking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Rs.16.4L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Business Insights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Data-driven observations extracted from the analytics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Top Category: Electronics leads with Rs.8,612,558.03 in sales (21.7% margin).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Low-Margin Category: Electronics has the lowest profit margin (21.7%). Review pricing or cost 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502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Top City: Bangalore generates Rs.2,241,954.70 in revenue — a key market to prioritise.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2120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52120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218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Best Customer Segment: New customers account for Rs.7,084,122.51 in sales. Focus retention efforts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7" y="10972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7" y="10972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12070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Best-Selling Product: Bluetooth Speaker with Rs.2,155,203.15 in sales (114 units sold).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2468880"/>
            <a:ext cx="56692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7" y="2468880"/>
            <a:ext cx="10972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57860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Overall Profit Margin: 22.07%. Healthy margin — sustain current pricing.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Actionable decisions derived from the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Double Down on Top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0020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Allocate more marketing budget and inventory to Electronics &amp; Fashion. Cross-sell within segment to increase basket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7" y="109728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7" y="109728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5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Tighten Discount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5" y="160020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High discounts (20%+) erode margins significantly. Introduce loyalty-based discounts for returning/premium customers instead of blanket cuts.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Geo-Targeted Marketing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8328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Focus ad spend on top-performing cities. Run targeted promotions in lower-performing cities to grow market share.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7" y="288036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7" y="288036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5" y="3017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Reduce Return &amp; Cancellation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5" y="338328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Audit product descriptions and fulfilment SLAs. Investigate root causes for high return/cancellation products.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800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VIP Customer Programme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16636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Top customers drive disproportionate revenue. Introduce a VIP tier with exclusive offers, early access, and dedicated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466344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7" y="4663440"/>
            <a:ext cx="56692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5" y="4800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Seasonal Inventory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5" y="516636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Use monthly trend data to pre-stock high-demand products before peak months and avoid overstock during slow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E"/>
                </a:solidFill>
              </a:rPr>
              <a:t>E-Commerce Sales &amp; Customer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34640"/>
            <a:ext cx="57881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E"/>
                </a:solidFill>
              </a:rPr>
              <a:t>Analysed 1,000 orders  |  291 customers  |  Rs.16.32M revenue  |  22.07% profit margin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Built with Python | pandas | Streamlit | Plotly | python-pptx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Data Analytics Project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